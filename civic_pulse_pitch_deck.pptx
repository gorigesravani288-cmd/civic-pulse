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68680"/>
            <a:ext cx="1005840" cy="1005840"/>
          </a:xfrm>
          <a:prstGeom prst="ellipse">
            <a:avLst/>
          </a:prstGeom>
          <a:ln w="19050">
            <a:solidFill>
              <a:srgbClr val="F2EE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2338" y="1009498"/>
            <a:ext cx="724205" cy="724205"/>
          </a:xfrm>
          <a:prstGeom prst="ellipse">
            <a:avLst/>
          </a:prstGeom>
          <a:ln w="19050">
            <a:solidFill>
              <a:srgbClr val="F2EE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3973" y="1291133"/>
            <a:ext cx="160934" cy="160934"/>
          </a:xfrm>
          <a:prstGeom prst="ellipse">
            <a:avLst/>
          </a:prstGeom>
          <a:solidFill>
            <a:srgbClr val="A6474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AI — CODE FOR COMMUNITIES · SECOND EDITION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live signal of citizen infrastructure demand — read the way a district officer reads a morning register.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6172200"/>
            <a:ext cx="10515600" cy="0"/>
          </a:xfrm>
          <a:prstGeom prst="line">
            <a:avLst/>
          </a:prstGeom>
          <a:noFill/>
          <a:ln w="9525">
            <a:solidFill>
              <a:srgbClr val="3A3F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DIGITAL PUBLIC INFRASTRUCTURE &amp;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voices get lost before they reach a decision-maker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331720"/>
            <a:ext cx="566928" cy="566928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12" dirty="0"/>
          </a:p>
        </p:txBody>
      </p:sp>
      <p:sp>
        <p:nvSpPr>
          <p:cNvPr id="6" name="Text 4"/>
          <p:cNvSpPr/>
          <p:nvPr/>
        </p:nvSpPr>
        <p:spPr>
          <a:xfrm>
            <a:off x="1600200" y="227685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channels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6974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Complaints arrive via voice calls, WhatsApp, IVR, and web forms, in dozens of languages — with no shared system to read them together.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630168"/>
            <a:ext cx="566928" cy="566928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30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12" dirty="0"/>
          </a:p>
        </p:txBody>
      </p:sp>
      <p:sp>
        <p:nvSpPr>
          <p:cNvPr id="10" name="Text 8"/>
          <p:cNvSpPr/>
          <p:nvPr/>
        </p:nvSpPr>
        <p:spPr>
          <a:xfrm>
            <a:off x="1600200" y="357530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way to prioritize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9959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aggregation, officials can't tell which single pothole complaint matters less than a pattern of ten flooding reports in one ward.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928616"/>
            <a:ext cx="566928" cy="566928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1600200" y="48737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Slow, reactive response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5294376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time a real risk (like a hospital losing water) surfaces through normal channels, it's already a crisis, not a warning.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Pulse turns scattered feedback into a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ranked, actionable register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Public Good that ingests citizen reports in any language and any channel, retrieves the ones that matter through a RAG search layer, clusters them by region and issue, and scores urgency automatically — surfacing the demand hotspots a policymaker needs to see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6263640" cy="566928"/>
          </a:xfrm>
          <a:prstGeom prst="roundRect">
            <a:avLst>
              <a:gd name="adj" fmla="val 96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7581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396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1417320" y="36576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by design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334256"/>
            <a:ext cx="6263640" cy="566928"/>
          </a:xfrm>
          <a:prstGeom prst="roundRect">
            <a:avLst>
              <a:gd name="adj" fmla="val 96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434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396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417320" y="433425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RAG-powered search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5010912"/>
            <a:ext cx="6263640" cy="566928"/>
          </a:xfrm>
          <a:prstGeom prst="roundRect">
            <a:avLst>
              <a:gd name="adj" fmla="val 96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51114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396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1417320" y="50109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prioritization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687568"/>
            <a:ext cx="6263640" cy="566928"/>
          </a:xfrm>
          <a:prstGeom prst="roundRect">
            <a:avLst>
              <a:gd name="adj" fmla="val 96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7881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A3969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788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1417320" y="56875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AI-written briefings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0" y="868680"/>
            <a:ext cx="4160520" cy="5120640"/>
          </a:xfrm>
          <a:prstGeom prst="roundRect">
            <a:avLst>
              <a:gd name="adj" fmla="val 1758"/>
            </a:avLst>
          </a:prstGeom>
          <a:solidFill>
            <a:srgbClr val="11141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266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REPLACES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26680" y="18288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726680" y="24871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read as one feed instead of separate silos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26680" y="32004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726680" y="38587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register instead of scattered complaint logs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45720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Minutes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726680" y="523036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policymaker briefing instead of manual reporting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voice note to a policy briefing, in six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691640" cy="3337560"/>
          </a:xfrm>
          <a:prstGeom prst="roundRect">
            <a:avLst>
              <a:gd name="adj" fmla="val 3784"/>
            </a:avLst>
          </a:prstGeom>
          <a:solidFill>
            <a:srgbClr val="171B26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34440" y="2468880"/>
            <a:ext cx="685800" cy="685800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794760"/>
            <a:ext cx="1399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text &amp; messaging feedback collected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965960"/>
            <a:ext cx="1691640" cy="3337560"/>
          </a:xfrm>
          <a:prstGeom prst="roundRect">
            <a:avLst>
              <a:gd name="adj" fmla="val 3784"/>
            </a:avLst>
          </a:prstGeom>
          <a:solidFill>
            <a:srgbClr val="171B26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63240" y="2468880"/>
            <a:ext cx="685800" cy="685800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5603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06624" y="3794760"/>
            <a:ext cx="1399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to a common working language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1965960"/>
            <a:ext cx="1691640" cy="3337560"/>
          </a:xfrm>
          <a:prstGeom prst="roundRect">
            <a:avLst>
              <a:gd name="adj" fmla="val 3784"/>
            </a:avLst>
          </a:prstGeom>
          <a:solidFill>
            <a:srgbClr val="171B26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468880"/>
            <a:ext cx="685800" cy="685800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3891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35424" y="3794760"/>
            <a:ext cx="1399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search surfaces relevant reports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1965960"/>
            <a:ext cx="1691640" cy="3337560"/>
          </a:xfrm>
          <a:prstGeom prst="roundRect">
            <a:avLst>
              <a:gd name="adj" fmla="val 3784"/>
            </a:avLst>
          </a:prstGeom>
          <a:solidFill>
            <a:srgbClr val="171B26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2468880"/>
            <a:ext cx="685800" cy="685800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2179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64224" y="3794760"/>
            <a:ext cx="1399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by region, scored by urgency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1965960"/>
            <a:ext cx="1691640" cy="3337560"/>
          </a:xfrm>
          <a:prstGeom prst="roundRect">
            <a:avLst>
              <a:gd name="adj" fmla="val 3784"/>
            </a:avLst>
          </a:prstGeom>
          <a:solidFill>
            <a:srgbClr val="171B26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49640" y="2468880"/>
            <a:ext cx="685800" cy="685800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80467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193024" y="3794760"/>
            <a:ext cx="1399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drafts a policymaker summary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875520" y="1965960"/>
            <a:ext cx="1691640" cy="3337560"/>
          </a:xfrm>
          <a:prstGeom prst="roundRect">
            <a:avLst>
              <a:gd name="adj" fmla="val 3784"/>
            </a:avLst>
          </a:prstGeom>
          <a:solidFill>
            <a:srgbClr val="171B26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40112" y="21305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4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378440" y="2468880"/>
            <a:ext cx="685800" cy="685800"/>
          </a:xfrm>
          <a:prstGeom prst="ellipse">
            <a:avLst/>
          </a:prstGeom>
          <a:solidFill>
            <a:srgbClr val="2A3969"/>
          </a:solidFill>
          <a:ln/>
        </p:spPr>
      </p:sp>
      <p:sp>
        <p:nvSpPr>
          <p:cNvPr id="37" name="Text 35"/>
          <p:cNvSpPr/>
          <p:nvPr/>
        </p:nvSpPr>
        <p:spPr>
          <a:xfrm>
            <a:off x="103784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87552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021824" y="3794760"/>
            <a:ext cx="1399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shown live on the dashboard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724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arrow above is a real, tested module — not a mockup.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PRIORITY REGISTER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Live, ranked, and reading real citizen data right 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34440" y="1783080"/>
            <a:ext cx="9692640" cy="4709160"/>
          </a:xfrm>
          <a:prstGeom prst="roundRect">
            <a:avLst>
              <a:gd name="adj" fmla="val 1165"/>
            </a:avLst>
          </a:prstGeom>
          <a:solidFill>
            <a:srgbClr val="0B0D13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965960"/>
            <a:ext cx="128016" cy="128016"/>
          </a:xfrm>
          <a:prstGeom prst="ellipse">
            <a:avLst/>
          </a:prstGeom>
          <a:solidFill>
            <a:srgbClr val="E8605A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1965960"/>
            <a:ext cx="128016" cy="128016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Shape 5"/>
          <p:cNvSpPr/>
          <p:nvPr/>
        </p:nvSpPr>
        <p:spPr>
          <a:xfrm>
            <a:off x="1975104" y="1965960"/>
            <a:ext cx="128016" cy="128016"/>
          </a:xfrm>
          <a:prstGeom prst="ellipse">
            <a:avLst/>
          </a:prstGeom>
          <a:solidFill>
            <a:srgbClr val="5FB56A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civicpulse.app  —  live dashboard</a:t>
            </a:r>
            <a:endParaRPr lang="en-US" sz="1000" dirty="0"/>
          </a:p>
        </p:txBody>
      </p:sp>
      <p:pic>
        <p:nvPicPr>
          <p:cNvPr id="9" name="Image 0" descr="/home/claude/crops/dashboard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99032" y="2194560"/>
            <a:ext cx="9363456" cy="41330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6601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product screenshot — Civic Pulse live dashboard, real citizen reports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click turns raw complaints into an executive briefing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hotspot in the register can generate a live Gemini-powered brief: a two-sentence executive summary plus one concrete, named recommendation — addressed to the right municipal body, with a real timeframe.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A39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4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4" dirty="0"/>
          </a:p>
        </p:txBody>
      </p:sp>
      <p:sp>
        <p:nvSpPr>
          <p:cNvPr id="7" name="Text 5"/>
          <p:cNvSpPr/>
          <p:nvPr/>
        </p:nvSpPr>
        <p:spPr>
          <a:xfrm>
            <a:off x="1234440" y="355701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the actual retrieved citizen reports, not generic text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2702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A396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4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4" dirty="0"/>
          </a:p>
        </p:txBody>
      </p:sp>
      <p:sp>
        <p:nvSpPr>
          <p:cNvPr id="10" name="Text 8"/>
          <p:cNvSpPr/>
          <p:nvPr/>
        </p:nvSpPr>
        <p:spPr>
          <a:xfrm>
            <a:off x="1234440" y="42153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responsible department and a concrete next action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9286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2A396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928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4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4" dirty="0"/>
          </a:p>
        </p:txBody>
      </p:sp>
      <p:sp>
        <p:nvSpPr>
          <p:cNvPr id="13" name="Text 11"/>
          <p:cNvSpPr/>
          <p:nvPr/>
        </p:nvSpPr>
        <p:spPr>
          <a:xfrm>
            <a:off x="1234440" y="48737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5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on demand — no pre-computed content to go stale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868680"/>
            <a:ext cx="4434840" cy="5166360"/>
          </a:xfrm>
          <a:prstGeom prst="roundRect">
            <a:avLst>
              <a:gd name="adj" fmla="val 1649"/>
            </a:avLst>
          </a:prstGeom>
          <a:solidFill>
            <a:srgbClr val="11141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/home/claude/crops/dashboard_card_onl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69480" y="1143000"/>
            <a:ext cx="3977640" cy="15346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69480" y="299766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LIVE GEMINI OUTPUT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269480" y="3363426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critical water supply disruption has been reported at the district hospital in Nagpur, leaving the facility without water for two days.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269480" y="5650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screenshot of the live Civic Pulse dashboard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tools that scale from a hackathon demo to a state deployment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96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</a:t>
            </a:r>
            <a:endParaRPr lang="en-US" sz="1045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briefings &amp; reasoning over prioritized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969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</a:t>
            </a:r>
            <a:endParaRPr lang="en-US" sz="1045" dirty="0"/>
          </a:p>
        </p:txBody>
      </p:sp>
      <p:sp>
        <p:nvSpPr>
          <p:cNvPr id="12" name="Text 10"/>
          <p:cNvSpPr/>
          <p:nvPr/>
        </p:nvSpPr>
        <p:spPr>
          <a:xfrm>
            <a:off x="4617720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Whisper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Speech-to-text for voice-based citizen feedback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240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96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45" dirty="0"/>
          </a:p>
        </p:txBody>
      </p:sp>
      <p:sp>
        <p:nvSpPr>
          <p:cNvPr id="17" name="Text 15"/>
          <p:cNvSpPr/>
          <p:nvPr/>
        </p:nvSpPr>
        <p:spPr>
          <a:xfrm>
            <a:off x="8275320" y="28529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Search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753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layer over multilingual feedback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02336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251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969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45" dirty="0"/>
          </a:p>
        </p:txBody>
      </p:sp>
      <p:sp>
        <p:nvSpPr>
          <p:cNvPr id="22" name="Text 20"/>
          <p:cNvSpPr/>
          <p:nvPr/>
        </p:nvSpPr>
        <p:spPr>
          <a:xfrm>
            <a:off x="960120" y="48646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+ Supabase-ready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012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API, ready for real persistent storage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02336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4251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969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</a:t>
            </a:r>
            <a:endParaRPr lang="en-US" sz="1045" dirty="0"/>
          </a:p>
        </p:txBody>
      </p:sp>
      <p:sp>
        <p:nvSpPr>
          <p:cNvPr id="27" name="Text 25"/>
          <p:cNvSpPr/>
          <p:nvPr/>
        </p:nvSpPr>
        <p:spPr>
          <a:xfrm>
            <a:off x="4617720" y="48646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Pipeline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1772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layer normalizes any regional language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429000" cy="1783080"/>
          </a:xfrm>
          <a:prstGeom prst="roundRect">
            <a:avLst>
              <a:gd name="adj" fmla="val 3077"/>
            </a:avLst>
          </a:prstGeom>
          <a:solidFill>
            <a:srgbClr val="EEE8D8"/>
          </a:solidFill>
          <a:ln w="9525">
            <a:solidFill>
              <a:srgbClr val="DAD3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251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A3969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5" b="1" dirty="0">
                <a:solidFill>
                  <a:srgbClr val="F2EE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045" dirty="0"/>
          </a:p>
        </p:txBody>
      </p:sp>
      <p:sp>
        <p:nvSpPr>
          <p:cNvPr id="32" name="Text 30"/>
          <p:cNvSpPr/>
          <p:nvPr/>
        </p:nvSpPr>
        <p:spPr>
          <a:xfrm>
            <a:off x="8275320" y="48646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75320" y="5212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register with two accessible themes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go from a district pilot to a national platform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3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4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semantic embeddings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25877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retrieval from TF-IDF to production embeddings + vector DB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4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3227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voice pipeline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4440" y="35753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tested Whisper transcription directly into ingestion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4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42153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storage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34440" y="45628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mock data to Supabase for continuous live feedback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47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52029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Multi-state rollout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234440" y="555040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beyond the pilot regions to a full state deployment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1783080"/>
            <a:ext cx="4297680" cy="4709160"/>
          </a:xfrm>
          <a:prstGeom prst="roundRect">
            <a:avLst>
              <a:gd name="adj" fmla="val 1702"/>
            </a:avLst>
          </a:prstGeom>
          <a:solidFill>
            <a:srgbClr val="11141C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8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SCALES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language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89520" y="31363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layer means new regions add zero new code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0" y="3904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channel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4343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text, and messaging all feed the same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511149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admin level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89520" y="55504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register works at ward, district, or state scale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417320"/>
            <a:ext cx="1188720" cy="1188720"/>
          </a:xfrm>
          <a:prstGeom prst="ellipse">
            <a:avLst/>
          </a:prstGeom>
          <a:ln w="19050">
            <a:solidFill>
              <a:srgbClr val="F2EE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7908" y="1583741"/>
            <a:ext cx="855878" cy="855878"/>
          </a:xfrm>
          <a:prstGeom prst="ellipse">
            <a:avLst/>
          </a:prstGeom>
          <a:ln w="19050">
            <a:solidFill>
              <a:srgbClr val="F2EE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00750" y="1916582"/>
            <a:ext cx="190195" cy="190195"/>
          </a:xfrm>
          <a:prstGeom prst="ellipse">
            <a:avLst/>
          </a:prstGeom>
          <a:solidFill>
            <a:srgbClr val="A6474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8346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EE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Pulse — AI for Digital Public Infrastructure &amp; Governance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AI: Code for Communities — Second Edition · Google Cloud × Hack2Skill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2026-08-22T07:02:39Z</dcterms:created>
  <dcterms:modified xsi:type="dcterms:W3CDTF">2026-08-22T07:02:39Z</dcterms:modified>
</cp:coreProperties>
</file>